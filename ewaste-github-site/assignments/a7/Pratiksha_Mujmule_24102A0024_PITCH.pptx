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 lakh/month)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&quot;₹&quot;0.0&quot;L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4</c:v>
                </c:pt>
                <c:pt idx="2">
                  <c:v>6.5</c:v>
                </c:pt>
                <c:pt idx="3">
                  <c:v>9</c:v>
                </c:pt>
              </c:numCache>
            </c:numRef>
          </c:val>
        </c:ser>
        <c:dLbls>
          <c:numFmt formatCode="&quot;₹&quot;0.0&quot;L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F6E5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dead is wasted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working components from dead electronics — before anything goes to landfill.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component recovery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throw away whole devices when only one part actually failed.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part dies, the whole device is binned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cracked screen or dead motherboard sends a working battery, RAM, camera and speaker straight to landfill.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33172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 value is thrown away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that repair shops need are never harvested — they're melted down or dumped instead.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33172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recyclers mishandle toxics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Untrained scrap handling exposes workers and soil to lead, mercury and lithium leaching from discarded units.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teardown-and-harvest pipeline that extracts maximum value before anything is recycled as scrap.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dead devices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22860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70048" y="22860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2761488" y="22860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part-by-part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90288" y="22860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91456" y="22860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22860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grade components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11696" y="22860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12864" y="22860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7004304" y="22860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repair shops &amp; refurbishers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33104" y="22860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34272" y="22860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D85A30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22860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scrap → recyclers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is low — dead devices are cheap or free to source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margin is high — tested spare parts sell at 40–60% margin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3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low-margin scrap recycling and high-capital refurbishing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revenue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resale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batteries, screens, RAM, motors sold to repair shops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supply contracts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part supply to refurbishers, 40–60%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ED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scrap sale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Non-reusable material sold on to certified recyclers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monthly revenue</a:t>
            </a:r>
            <a:endParaRPr lang="en-US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72200" y="16916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172200" y="4983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projected around month 10–12 at ~300–500 devices processed/month.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0F6E56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margin on harvested parts: 40–60%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ReCircuit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1920240"/>
            <a:ext cx="0" cy="82296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188720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M1–2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23160" y="1463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diagnostic bench, hire technicians, tie up scrap-dealer sourcing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971800"/>
            <a:ext cx="0" cy="82296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188720" y="25328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M3–4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2514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parts catalog (WhatsApp / marketplace), first repair-shop sales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4023360"/>
            <a:ext cx="0" cy="82296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188720" y="3584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M5–6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part grading &amp; certification, approach refurbishers for bulk contracts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320040" cy="3200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636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M7–12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23160" y="4617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sourcing volume, add in-house minor refurbishing line, reach break-even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D85A3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seed capital for a diagnostic bench, first sourcing pipeline and a 2-person harvest team — targeting break-even by month 10–12.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325FA1D2-35C5-483E-BB47-163D82C844CC}"/>
</file>

<file path=customXml/itemProps2.xml><?xml version="1.0" encoding="utf-8"?>
<ds:datastoreItem xmlns:ds="http://schemas.openxmlformats.org/officeDocument/2006/customXml" ds:itemID="{B0769E3C-D473-42E3-AAED-3B9EB8B8A540}"/>
</file>

<file path=customXml/itemProps3.xml><?xml version="1.0" encoding="utf-8"?>
<ds:datastoreItem xmlns:ds="http://schemas.openxmlformats.org/officeDocument/2006/customXml" ds:itemID="{5ED02BC8-2A91-407B-8558-4DC55F87A5B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2026-08-24T09:04:27Z</dcterms:created>
  <dcterms:modified xsi:type="dcterms:W3CDTF">2026-08-24T09:04:27Z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