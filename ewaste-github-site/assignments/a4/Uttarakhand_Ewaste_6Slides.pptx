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E-waste (t)</c:v>
                </c:pt>
              </c:strCache>
            </c:strRef>
          </c:tx>
          <c:spPr>
            <a:solidFill>
              <a:srgbClr val="3F7A5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630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FY 2016–17</c:v>
                  </c:pt>
                  <c:pt idx="1">
                    <c:v>FY 2024–25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22700</c:v>
                </c:pt>
                <c:pt idx="1">
                  <c:v>988479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630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56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5F1E6"/>
        </a:solidFill>
        <a:ln>
          <a:noFill/>
        </a:ln>
        <a:effectLst/>
      </c:spPr>
    </c:plotArea>
    <c:plotVisOnly val="1"/>
    <c:dispBlanksAs val="span"/>
  </c:chart>
  <c:spPr>
    <a:solidFill>
      <a:srgbClr val="F5F1E6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F7A54"/>
              </a:solidFill>
              <a:effectLst/>
            </c:spPr>
          </c:dPt>
          <c:dPt>
            <c:idx val="1"/>
            <c:bubble3D val="0"/>
            <c:spPr>
              <a:solidFill>
                <a:srgbClr val="B5495B"/>
              </a:solidFill>
              <a:effectLst/>
            </c:spPr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Formally collected (43.4%)</c:v>
                </c:pt>
                <c:pt idx="1">
                  <c:v>Uncollected / leaked (56.6%)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43.4</c:v>
                </c:pt>
                <c:pt idx="1">
                  <c:v>56.6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B656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5F1E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DISTRICT-LEVEL DATA STUDY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7373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E-Waste in Uttarakhand: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Hill-State Paradox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429000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generation, collection gaps, and the road to formalization across 13 districts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5989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Compiled from the Uttarakhand E-Waste Collection Log (illustrative district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F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workbook) and national CPCB / PIB e-waste data  ·  2025–26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8741664" y="1554480"/>
            <a:ext cx="713232" cy="621792"/>
          </a:xfrm>
          <a:prstGeom prst="roundRect">
            <a:avLst>
              <a:gd name="adj" fmla="val 7353"/>
            </a:avLst>
          </a:prstGeom>
          <a:solidFill>
            <a:srgbClr val="E7E3D6"/>
          </a:solidFill>
          <a:ln/>
        </p:spPr>
      </p:sp>
      <p:sp>
        <p:nvSpPr>
          <p:cNvPr id="7" name="Shape 5"/>
          <p:cNvSpPr/>
          <p:nvPr/>
        </p:nvSpPr>
        <p:spPr>
          <a:xfrm>
            <a:off x="9528048" y="1554480"/>
            <a:ext cx="713232" cy="621792"/>
          </a:xfrm>
          <a:prstGeom prst="roundRect">
            <a:avLst>
              <a:gd name="adj" fmla="val 7353"/>
            </a:avLst>
          </a:prstGeom>
          <a:solidFill>
            <a:srgbClr val="E7E3D6"/>
          </a:solidFill>
          <a:ln/>
        </p:spPr>
      </p:sp>
      <p:sp>
        <p:nvSpPr>
          <p:cNvPr id="8" name="Shape 6"/>
          <p:cNvSpPr/>
          <p:nvPr/>
        </p:nvSpPr>
        <p:spPr>
          <a:xfrm>
            <a:off x="10314432" y="1554480"/>
            <a:ext cx="713232" cy="621792"/>
          </a:xfrm>
          <a:prstGeom prst="roundRect">
            <a:avLst>
              <a:gd name="adj" fmla="val 7353"/>
            </a:avLst>
          </a:prstGeom>
          <a:solidFill>
            <a:srgbClr val="CFC9B8"/>
          </a:solidFill>
          <a:ln/>
        </p:spPr>
      </p:sp>
      <p:sp>
        <p:nvSpPr>
          <p:cNvPr id="9" name="Shape 7"/>
          <p:cNvSpPr/>
          <p:nvPr/>
        </p:nvSpPr>
        <p:spPr>
          <a:xfrm>
            <a:off x="11100816" y="1554480"/>
            <a:ext cx="713232" cy="621792"/>
          </a:xfrm>
          <a:prstGeom prst="roundRect">
            <a:avLst>
              <a:gd name="adj" fmla="val 7353"/>
            </a:avLst>
          </a:prstGeom>
          <a:solidFill>
            <a:srgbClr val="E7E3D6"/>
          </a:solidFill>
          <a:ln/>
        </p:spPr>
      </p:sp>
      <p:sp>
        <p:nvSpPr>
          <p:cNvPr id="10" name="Shape 8"/>
          <p:cNvSpPr/>
          <p:nvPr/>
        </p:nvSpPr>
        <p:spPr>
          <a:xfrm>
            <a:off x="8741664" y="2249424"/>
            <a:ext cx="713232" cy="621792"/>
          </a:xfrm>
          <a:prstGeom prst="roundRect">
            <a:avLst>
              <a:gd name="adj" fmla="val 7353"/>
            </a:avLst>
          </a:prstGeom>
          <a:solidFill>
            <a:srgbClr val="E7E3D6"/>
          </a:solidFill>
          <a:ln/>
        </p:spPr>
      </p:sp>
      <p:sp>
        <p:nvSpPr>
          <p:cNvPr id="11" name="Shape 9"/>
          <p:cNvSpPr/>
          <p:nvPr/>
        </p:nvSpPr>
        <p:spPr>
          <a:xfrm>
            <a:off x="9528048" y="2249424"/>
            <a:ext cx="713232" cy="621792"/>
          </a:xfrm>
          <a:prstGeom prst="roundRect">
            <a:avLst>
              <a:gd name="adj" fmla="val 7353"/>
            </a:avLst>
          </a:prstGeom>
          <a:solidFill>
            <a:srgbClr val="E7E3D6"/>
          </a:solidFill>
          <a:ln/>
        </p:spPr>
      </p:sp>
      <p:sp>
        <p:nvSpPr>
          <p:cNvPr id="12" name="Shape 10"/>
          <p:cNvSpPr/>
          <p:nvPr/>
        </p:nvSpPr>
        <p:spPr>
          <a:xfrm>
            <a:off x="10314432" y="2249424"/>
            <a:ext cx="713232" cy="621792"/>
          </a:xfrm>
          <a:prstGeom prst="roundRect">
            <a:avLst>
              <a:gd name="adj" fmla="val 7353"/>
            </a:avLst>
          </a:prstGeom>
          <a:solidFill>
            <a:srgbClr val="CFC9B8"/>
          </a:solidFill>
          <a:ln/>
        </p:spPr>
      </p:sp>
      <p:sp>
        <p:nvSpPr>
          <p:cNvPr id="13" name="Shape 11"/>
          <p:cNvSpPr/>
          <p:nvPr/>
        </p:nvSpPr>
        <p:spPr>
          <a:xfrm>
            <a:off x="11100816" y="2249424"/>
            <a:ext cx="713232" cy="621792"/>
          </a:xfrm>
          <a:prstGeom prst="roundRect">
            <a:avLst>
              <a:gd name="adj" fmla="val 7353"/>
            </a:avLst>
          </a:prstGeom>
          <a:solidFill>
            <a:srgbClr val="E7E3D6"/>
          </a:solidFill>
          <a:ln/>
        </p:spPr>
      </p:sp>
      <p:sp>
        <p:nvSpPr>
          <p:cNvPr id="14" name="Shape 12"/>
          <p:cNvSpPr/>
          <p:nvPr/>
        </p:nvSpPr>
        <p:spPr>
          <a:xfrm>
            <a:off x="7955280" y="2944368"/>
            <a:ext cx="713232" cy="621792"/>
          </a:xfrm>
          <a:prstGeom prst="roundRect">
            <a:avLst>
              <a:gd name="adj" fmla="val 7353"/>
            </a:avLst>
          </a:prstGeom>
          <a:solidFill>
            <a:srgbClr val="B5495B"/>
          </a:solidFill>
          <a:ln/>
        </p:spPr>
      </p:sp>
      <p:sp>
        <p:nvSpPr>
          <p:cNvPr id="15" name="Shape 13"/>
          <p:cNvSpPr/>
          <p:nvPr/>
        </p:nvSpPr>
        <p:spPr>
          <a:xfrm>
            <a:off x="8741664" y="2944368"/>
            <a:ext cx="713232" cy="621792"/>
          </a:xfrm>
          <a:prstGeom prst="roundRect">
            <a:avLst>
              <a:gd name="adj" fmla="val 7353"/>
            </a:avLst>
          </a:prstGeom>
          <a:solidFill>
            <a:srgbClr val="E7E3D6"/>
          </a:solidFill>
          <a:ln/>
        </p:spPr>
      </p:sp>
      <p:sp>
        <p:nvSpPr>
          <p:cNvPr id="16" name="Shape 14"/>
          <p:cNvSpPr/>
          <p:nvPr/>
        </p:nvSpPr>
        <p:spPr>
          <a:xfrm>
            <a:off x="10314432" y="2944368"/>
            <a:ext cx="713232" cy="621792"/>
          </a:xfrm>
          <a:prstGeom prst="roundRect">
            <a:avLst>
              <a:gd name="adj" fmla="val 7353"/>
            </a:avLst>
          </a:prstGeom>
          <a:solidFill>
            <a:srgbClr val="3B5A6B"/>
          </a:solidFill>
          <a:ln/>
        </p:spPr>
      </p:sp>
      <p:sp>
        <p:nvSpPr>
          <p:cNvPr id="17" name="Shape 15"/>
          <p:cNvSpPr/>
          <p:nvPr/>
        </p:nvSpPr>
        <p:spPr>
          <a:xfrm>
            <a:off x="7955280" y="3639312"/>
            <a:ext cx="713232" cy="621792"/>
          </a:xfrm>
          <a:prstGeom prst="roundRect">
            <a:avLst>
              <a:gd name="adj" fmla="val 7353"/>
            </a:avLst>
          </a:prstGeom>
          <a:solidFill>
            <a:srgbClr val="3B5A6B"/>
          </a:solidFill>
          <a:ln/>
        </p:spPr>
      </p:sp>
      <p:sp>
        <p:nvSpPr>
          <p:cNvPr id="18" name="Shape 16"/>
          <p:cNvSpPr/>
          <p:nvPr/>
        </p:nvSpPr>
        <p:spPr>
          <a:xfrm>
            <a:off x="10314432" y="3639312"/>
            <a:ext cx="713232" cy="621792"/>
          </a:xfrm>
          <a:prstGeom prst="roundRect">
            <a:avLst>
              <a:gd name="adj" fmla="val 7353"/>
            </a:avLst>
          </a:prstGeom>
          <a:solidFill>
            <a:srgbClr val="3B5A6B"/>
          </a:solidFill>
          <a:ln/>
        </p:spPr>
      </p:sp>
      <p:sp>
        <p:nvSpPr>
          <p:cNvPr id="19" name="Text 17"/>
          <p:cNvSpPr/>
          <p:nvPr/>
        </p:nvSpPr>
        <p:spPr>
          <a:xfrm>
            <a:off x="7955280" y="2926080"/>
            <a:ext cx="7132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Dehradun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7772400" y="4379976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F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tile-map, schematic — positioned by real geography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F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Uttarakhand E-Waste Study  ·  slide 1 of 6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943600" y="6565392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F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Uttarakhand E-Waste Collection Log (illustrative district workbook, 2025–26) &amp; national CPCB/PIB e-waste data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B5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TWO-SIDED PICTURE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Hazard, and the Opportunity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349240" cy="502920"/>
          </a:xfrm>
          <a:prstGeom prst="rect">
            <a:avLst/>
          </a:prstGeom>
          <a:solidFill>
            <a:srgbClr val="C98A2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371600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HAZARD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65960"/>
          <a:ext cx="5349240" cy="3291840"/>
        </p:xfrm>
        <a:graphic>
          <a:graphicData uri="http://schemas.openxmlformats.org/drawingml/2006/table">
            <a:tbl>
              <a:tblPr/>
              <a:tblGrid>
                <a:gridCol w="5349240"/>
              </a:tblGrid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 33.7 lakh kg of e-waste generated statewide every year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 Only 43.4% is formally collected — the rest leaks into informal channels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 3 of 7 monitored informal sites exceed safe Pb / Cd limits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 Hill districts collect under 40% of what they generate — infrastructure gap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309360" y="1371600"/>
            <a:ext cx="5349240" cy="502920"/>
          </a:xfrm>
          <a:prstGeom prst="rect">
            <a:avLst/>
          </a:prstGeom>
          <a:solidFill>
            <a:srgbClr val="3F7A54"/>
          </a:solidFill>
          <a:ln/>
        </p:spPr>
      </p:sp>
      <p:sp>
        <p:nvSpPr>
          <p:cNvPr id="8" name="Text 5"/>
          <p:cNvSpPr/>
          <p:nvPr/>
        </p:nvSpPr>
        <p:spPr>
          <a:xfrm>
            <a:off x="6309360" y="1371600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</a:t>
            </a:r>
            <a:endParaRPr lang="en-US" sz="16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965960"/>
          <a:ext cx="5349240" cy="3291840"/>
        </p:xfrm>
        <a:graphic>
          <a:graphicData uri="http://schemas.openxmlformats.org/drawingml/2006/table">
            <a:tbl>
              <a:tblPr/>
              <a:tblGrid>
                <a:gridCol w="5349240"/>
              </a:tblGrid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 27,600 t/yr of formal recycling capacity already installed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 75.4% average material recovery rate at authorized recyclers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 555 informal workers identified — a ready workforce for formalization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 102 registered collection centres already exist to build 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02920" y="5760720"/>
            <a:ext cx="11155680" cy="594360"/>
          </a:xfrm>
          <a:prstGeom prst="rect">
            <a:avLst/>
          </a:prstGeom>
          <a:solidFill>
            <a:srgbClr val="26302B"/>
          </a:solidFill>
          <a:ln/>
        </p:spPr>
      </p:sp>
      <p:sp>
        <p:nvSpPr>
          <p:cNvPr id="11" name="Text 7"/>
          <p:cNvSpPr/>
          <p:nvPr/>
        </p:nvSpPr>
        <p:spPr>
          <a:xfrm>
            <a:off x="685800" y="576072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Uttarakhand's e-waste problem isn't a lack of infrastructure — it's an uneven system where the plains process and the hills are left out.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F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Uttarakhand E-Waste Study  ·  slide 2 of 6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5943600" y="6565392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F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Uttarakhand E-Waste Collection Log (illustrative district workbook, 2025–26) &amp; national CPCB/PIB e-waste data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54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VS. CAPTURE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State Tsunami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India's formal e-waste system is scaling fast — but Uttarakhand still loses more than half its e-waste to informal or unrecorded channels.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5212080" cy="1188720"/>
          </a:xfrm>
          <a:prstGeom prst="rect">
            <a:avLst/>
          </a:prstGeom>
          <a:solidFill>
            <a:srgbClr val="E7E3D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82880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Insight
</a:t>
            </a:r>
            <a:pPr indent="0" marL="0">
              <a:buNone/>
            </a:pPr>
            <a:r>
              <a:rPr lang="en-US" sz="1100" dirty="0">
                <a:solidFill>
                  <a:srgbClr val="5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India's formally collected &amp; processed e-waste rose 43× in eight years — from 22,700 t (FY16–17) to 9,88,479 t (FY24–25).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02920" y="3063240"/>
          <a:ext cx="521208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035040" y="1737360"/>
            <a:ext cx="5623560" cy="1188720"/>
          </a:xfrm>
          <a:prstGeom prst="rect">
            <a:avLst/>
          </a:prstGeom>
          <a:solidFill>
            <a:srgbClr val="E7E3D6"/>
          </a:solidFill>
          <a:ln/>
        </p:spPr>
      </p:sp>
      <p:sp>
        <p:nvSpPr>
          <p:cNvPr id="9" name="Text 6"/>
          <p:cNvSpPr/>
          <p:nvPr/>
        </p:nvSpPr>
        <p:spPr>
          <a:xfrm>
            <a:off x="6217920" y="1828800"/>
            <a:ext cx="5257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Uttarakhand, 2025–26
</a:t>
            </a:r>
            <a:pPr indent="0" marL="0">
              <a:buNone/>
            </a:pPr>
            <a:r>
              <a:rPr lang="en-US" sz="1100" dirty="0">
                <a:solidFill>
                  <a:srgbClr val="5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33.7 lakh kg generated · only 43.4% formally collected · the remaining 56.6% is unaccounted for.</a:t>
            </a:r>
            <a:endParaRPr lang="en-US" sz="12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6309360" y="3063240"/>
          <a:ext cx="53492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7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F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Uttarakhand E-Waste Study  ·  slide 3 of 6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5943600" y="6565392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F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Uttarakhand E-Waste Collection Log (illustrative district workbook, 2025–26) &amp; national CPCB/PIB e-waste data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B5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GAP SITS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District Map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District boundaries reproduced from a supplied reference map — shading and figures below are our own, verified workbook numbers, not the map's original labels.</a:t>
            </a:r>
            <a:endParaRPr lang="en-US" sz="1250" dirty="0"/>
          </a:p>
        </p:txBody>
      </p:sp>
      <p:pic>
        <p:nvPicPr>
          <p:cNvPr id="5" name="Image 0" descr="/home/claude/map_ass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91640"/>
            <a:ext cx="5486400" cy="43708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10819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F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map: district boundaries only — legend and per-capita values on the original graphic are unverified and not used here.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6263640" y="1691640"/>
            <a:ext cx="5394960" cy="4370832"/>
          </a:xfrm>
          <a:prstGeom prst="rect">
            <a:avLst/>
          </a:prstGeom>
          <a:solidFill>
            <a:srgbClr val="FFFFFF"/>
          </a:solidFill>
          <a:ln w="12700">
            <a:solidFill>
              <a:srgbClr val="CFC9B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92240" y="18288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collection rate by district (from our workbook)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92240" y="2194560"/>
            <a:ext cx="2743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Dehradun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9235440" y="2194560"/>
            <a:ext cx="2194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5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49.5%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492240" y="2478024"/>
            <a:ext cx="2743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Haridwar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9235440" y="2478024"/>
            <a:ext cx="2194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5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45.8%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492240" y="2761488"/>
            <a:ext cx="2743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Udham Singh Nagar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9235440" y="2761488"/>
            <a:ext cx="2194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5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43.8%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492240" y="3044952"/>
            <a:ext cx="2743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Nainital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9235440" y="3044952"/>
            <a:ext cx="2194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5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43.4%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492240" y="3328416"/>
            <a:ext cx="2743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Almora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9235440" y="3328416"/>
            <a:ext cx="2194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38.7%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492240" y="3611880"/>
            <a:ext cx="2743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Pauri Garhwal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9235440" y="3611880"/>
            <a:ext cx="2194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37.1%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492240" y="3895344"/>
            <a:ext cx="2743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Tehri Garhwal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9235440" y="3895344"/>
            <a:ext cx="2194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36.2%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492240" y="4178808"/>
            <a:ext cx="2743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Chamoli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9235440" y="4178808"/>
            <a:ext cx="2194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54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32.2%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492240" y="4462272"/>
            <a:ext cx="2743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Pithoragarh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9235440" y="4462272"/>
            <a:ext cx="2194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54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31.6%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492240" y="4745736"/>
            <a:ext cx="2743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Uttarkashi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9235440" y="4745736"/>
            <a:ext cx="2194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54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31.8%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492240" y="5029200"/>
            <a:ext cx="2743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Champawat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9235440" y="5029200"/>
            <a:ext cx="2194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54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30.9%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6492240" y="5312664"/>
            <a:ext cx="2743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Bageshwar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9235440" y="5312664"/>
            <a:ext cx="2194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54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30.0%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6492240" y="5596128"/>
            <a:ext cx="2743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Rudraprayag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9235440" y="5596128"/>
            <a:ext cx="2194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54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28.9%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F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Uttarakhand E-Waste Study  ·  slide 4 of 6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943600" y="6565392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F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Uttarakhand E-Waste Collection Log (illustrative district workbook, 2025–26) &amp; national CPCB/PIB e-waste data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B5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PLAINS VS. HILLS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Matrix: Collection Performance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Dehradun, Haridwar, Udham Singh Nagar &amp; Nainital vs. the remaining nine hill districts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83080"/>
          <a:ext cx="11155680" cy="4023360"/>
        </p:xfrm>
        <a:graphic>
          <a:graphicData uri="http://schemas.openxmlformats.org/drawingml/2006/table">
            <a:tbl>
              <a:tblPr/>
              <a:tblGrid>
                <a:gridCol w="5120640"/>
                <a:gridCol w="3017520"/>
                <a:gridCol w="301752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Plains Districts (4)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Hill Districts (9)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495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3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Avg. collection rate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5A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46.4%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549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34.3%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3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Avg. per-capita generation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5A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0.41 kg/yr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549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0.22 kg/yr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3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Registered collection centres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5A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549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3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Districts with an authorized recycler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5A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of 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549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of 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3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Installed recycling capacity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5A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27,200 t/yr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549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 t/yr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3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 of state e-waste generated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5A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75.1%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549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24.9%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6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5989320"/>
            <a:ext cx="11155680" cy="548640"/>
          </a:xfrm>
          <a:prstGeom prst="rect">
            <a:avLst/>
          </a:prstGeom>
          <a:solidFill>
            <a:srgbClr val="26302B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59893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hills generate a quarter of the state's e-waste but hold almost none of its formal capacity to handle it.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F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Uttarakhand E-Waste Study  ·  slide 5 of 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943600" y="6565392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F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Uttarakhand E-Waste Collection Log (illustrative district workbook, 2025–26) &amp; national CPCB/PIB e-waste data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7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COMES 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to a District-Balanced Solution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steps, grounded in what the data already shows is working and what isn't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822960" cy="822960"/>
          </a:xfrm>
          <a:prstGeom prst="ellipse">
            <a:avLst/>
          </a:prstGeom>
          <a:solidFill>
            <a:srgbClr val="2C5A3E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828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508760" y="1828800"/>
            <a:ext cx="101498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9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37360" y="1920240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Formalize &amp; Protect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737360" y="228600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the 555 identified informal workers into registration and training, starting with the 3 already-partially-formalized clusters (Patel Nagar, Kashipur, Jwalapur) before tackling the 4 still fully informal.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246120"/>
            <a:ext cx="822960" cy="822960"/>
          </a:xfrm>
          <a:prstGeom prst="ellipse">
            <a:avLst/>
          </a:prstGeom>
          <a:solidFill>
            <a:srgbClr val="2C5A3E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246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508760" y="3246120"/>
            <a:ext cx="101498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9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37360" y="3337560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&amp; Build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737360" y="370332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recycler capacity beyond the 5 hub districts. Prioritize the 8 hill districts with zero authorized recyclers, using Uttarkashi's single small unit as the proof of concept.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4663440"/>
            <a:ext cx="822960" cy="822960"/>
          </a:xfrm>
          <a:prstGeom prst="ellipse">
            <a:avLst/>
          </a:prstGeom>
          <a:solidFill>
            <a:srgbClr val="2C5A3E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4663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1508760" y="4663440"/>
            <a:ext cx="101498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9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37360" y="4754880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 &amp; Innovate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737360" y="512064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 Regulatory Compliance (9.0/15) and Collection Performance (8.7/20) — the two weakest of the 7 scorecard categories — by closing the plains-to-hills centre gap (67 vs. 35).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61722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Sustainable, district-balanced e-waste infrastructure is the cornerstone for turning Uttarakhand's hill-state paradox into a hill-state model.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F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Uttarakhand E-Waste Study  ·  slide 6 of 6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943600" y="6565392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F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Uttarakhand E-Waste Collection Log (illustrative district workbook, 2025–26) &amp; national CPCB/PIB e-waste data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17A232B3FA31C48ADAF29702DE3C893" ma:contentTypeVersion="12" ma:contentTypeDescription="Create a new document." ma:contentTypeScope="" ma:versionID="9733aeacb51a31fd2347aff2540d3a50">
  <xsd:schema xmlns:xsd="http://www.w3.org/2001/XMLSchema" xmlns:xs="http://www.w3.org/2001/XMLSchema" xmlns:p="http://schemas.microsoft.com/office/2006/metadata/properties" xmlns:ns2="dd5b6b3d-3d39-4526-b8e4-79d21e1438f0" xmlns:ns3="44678d20-5b6e-4792-b133-ca784477d689" targetNamespace="http://schemas.microsoft.com/office/2006/metadata/properties" ma:root="true" ma:fieldsID="37926f2f1ae8b3f68e3dbd3dffff8aa9" ns2:_="" ns3:_="">
    <xsd:import namespace="dd5b6b3d-3d39-4526-b8e4-79d21e1438f0"/>
    <xsd:import namespace="44678d20-5b6e-4792-b133-ca784477d689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5b6b3d-3d39-4526-b8e4-79d21e1438f0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65c09e8c-4242-4efc-8aa0-958213fa9c5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678d20-5b6e-4792-b133-ca784477d689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ae8ad495-3829-482e-ad1b-cf0f2662c940}" ma:internalName="TaxCatchAll" ma:showField="CatchAllData" ma:web="44678d20-5b6e-4792-b133-ca784477d68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d5b6b3d-3d39-4526-b8e4-79d21e1438f0">
      <Terms xmlns="http://schemas.microsoft.com/office/infopath/2007/PartnerControls"/>
    </lcf76f155ced4ddcb4097134ff3c332f>
    <TaxCatchAll xmlns="44678d20-5b6e-4792-b133-ca784477d689" xsi:nil="true"/>
    <ReferenceId xmlns="dd5b6b3d-3d39-4526-b8e4-79d21e1438f0" xsi:nil="true"/>
  </documentManagement>
</p:properties>
</file>

<file path=customXml/itemProps1.xml><?xml version="1.0" encoding="utf-8"?>
<ds:datastoreItem xmlns:ds="http://schemas.openxmlformats.org/officeDocument/2006/customXml" ds:itemID="{921300A9-5E1D-4B8D-95C2-9B63934DE0C4}"/>
</file>

<file path=customXml/itemProps2.xml><?xml version="1.0" encoding="utf-8"?>
<ds:datastoreItem xmlns:ds="http://schemas.openxmlformats.org/officeDocument/2006/customXml" ds:itemID="{66F81F76-D992-4DCE-B8D0-F4EAD08FFCF9}"/>
</file>

<file path=customXml/itemProps3.xml><?xml version="1.0" encoding="utf-8"?>
<ds:datastoreItem xmlns:ds="http://schemas.openxmlformats.org/officeDocument/2006/customXml" ds:itemID="{8424159C-7FF8-426C-A424-A39DA229D501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2026-08-10T08:56:11Z</dcterms:created>
  <dcterms:modified xsi:type="dcterms:W3CDTF">2026-08-10T08:56:11Z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0x010100B17A232B3FA31C48ADAF29702DE3C893</vt:lpwstr>
  </property>
</Properties>
</file>