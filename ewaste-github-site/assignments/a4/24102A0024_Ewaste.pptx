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g"/>
  <Default Extension="m4v" ContentType="video/mp4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1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openxmlformats.org/officeDocument/2006/relationships/customXml" Target="../customXml/item2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E-waste (t)</c:v>
                </c:pt>
              </c:strCache>
            </c:strRef>
          </c:tx>
          <c:spPr>
            <a:solidFill>
              <a:srgbClr val="3F7A5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63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 2016–17</c:v>
                  </c:pt>
                  <c:pt idx="1">
                    <c:v>FY 2024–25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22700</c:v>
                </c:pt>
                <c:pt idx="1">
                  <c:v>988479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63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56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F1E6"/>
        </a:solidFill>
        <a:ln>
          <a:noFill/>
        </a:ln>
        <a:effectLst/>
      </c:spPr>
    </c:plotArea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F7A54"/>
              </a:solidFill>
              <a:effectLst/>
            </c:spPr>
          </c:dPt>
          <c:dPt>
            <c:idx val="1"/>
            <c:bubble3D val="0"/>
            <c:spPr>
              <a:solidFill>
                <a:srgbClr val="B5495B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Formally collected (43.4%)</c:v>
                </c:pt>
                <c:pt idx="1">
                  <c:v>Uncollected / leaked (56.6%)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43.4</c:v>
                </c:pt>
                <c:pt idx="1">
                  <c:v>56.6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560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5F1E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DISTRICT-LEVEL DATA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737360"/>
            <a:ext cx="60350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E-Waste in Uttarakhand: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Hill-State Paradox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42900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generation, collection gaps, and the road to formalization across 13 districts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59893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Compiled from the Uttarakhand E-Waste Collection Log (illustrative district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workbook) and national CPCB / PIB e-waste data  ·  2025–26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8741664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7" name="Shape 5"/>
          <p:cNvSpPr/>
          <p:nvPr/>
        </p:nvSpPr>
        <p:spPr>
          <a:xfrm>
            <a:off x="9528048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9" name="Shape 7"/>
          <p:cNvSpPr/>
          <p:nvPr/>
        </p:nvSpPr>
        <p:spPr>
          <a:xfrm>
            <a:off x="11100816" y="1554480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0" name="Shape 8"/>
          <p:cNvSpPr/>
          <p:nvPr/>
        </p:nvSpPr>
        <p:spPr>
          <a:xfrm>
            <a:off x="8741664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1" name="Shape 9"/>
          <p:cNvSpPr/>
          <p:nvPr/>
        </p:nvSpPr>
        <p:spPr>
          <a:xfrm>
            <a:off x="9528048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2" name="Shape 10"/>
          <p:cNvSpPr/>
          <p:nvPr/>
        </p:nvSpPr>
        <p:spPr>
          <a:xfrm>
            <a:off x="10314432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CFC9B8"/>
          </a:solidFill>
          <a:ln/>
        </p:spPr>
      </p:sp>
      <p:sp>
        <p:nvSpPr>
          <p:cNvPr id="13" name="Shape 11"/>
          <p:cNvSpPr/>
          <p:nvPr/>
        </p:nvSpPr>
        <p:spPr>
          <a:xfrm>
            <a:off x="11100816" y="2249424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4" name="Shape 12"/>
          <p:cNvSpPr/>
          <p:nvPr/>
        </p:nvSpPr>
        <p:spPr>
          <a:xfrm>
            <a:off x="7955280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B5495B"/>
          </a:solidFill>
          <a:ln/>
        </p:spPr>
      </p:sp>
      <p:sp>
        <p:nvSpPr>
          <p:cNvPr id="15" name="Shape 13"/>
          <p:cNvSpPr/>
          <p:nvPr/>
        </p:nvSpPr>
        <p:spPr>
          <a:xfrm>
            <a:off x="8741664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E7E3D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314432" y="2944368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5280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8" name="Shape 16"/>
          <p:cNvSpPr/>
          <p:nvPr/>
        </p:nvSpPr>
        <p:spPr>
          <a:xfrm>
            <a:off x="10314432" y="3639312"/>
            <a:ext cx="713232" cy="621792"/>
          </a:xfrm>
          <a:prstGeom prst="roundRect">
            <a:avLst>
              <a:gd name="adj" fmla="val 7353"/>
            </a:avLst>
          </a:prstGeom>
          <a:solidFill>
            <a:srgbClr val="3B5A6B"/>
          </a:solidFill>
          <a:ln/>
        </p:spPr>
      </p:sp>
      <p:sp>
        <p:nvSpPr>
          <p:cNvPr id="19" name="Text 17"/>
          <p:cNvSpPr/>
          <p:nvPr/>
        </p:nvSpPr>
        <p:spPr>
          <a:xfrm>
            <a:off x="7955280" y="2926080"/>
            <a:ext cx="713232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600" dirty="0"/>
          </a:p>
        </p:txBody>
      </p:sp>
      <p:sp>
        <p:nvSpPr>
          <p:cNvPr id="20" name="Text 18"/>
          <p:cNvSpPr/>
          <p:nvPr/>
        </p:nvSpPr>
        <p:spPr>
          <a:xfrm>
            <a:off x="7772400" y="4379976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tile-map, schematic — positioned by real geography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1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TWO-SIDED PICTURE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Hazard, and the Opportunity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solidFill>
            <a:srgbClr val="C98A2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HAZARD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33.7 lakh kg of e-waste generated statewide every year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Only 43.4% is formally collected — the rest leaks into informal channels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3 of 7 monitored informal sites exceed safe Pb / Cd limits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Hill districts collect under 40% of what they generate — infrastructure gap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solidFill>
            <a:srgbClr val="3F7A54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371600"/>
            <a:ext cx="5349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</a:t>
            </a:r>
            <a:endParaRPr lang="en-US" sz="16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965960"/>
          <a:ext cx="5349240" cy="3291840"/>
        </p:xfrm>
        <a:graphic>
          <a:graphicData uri="http://schemas.openxmlformats.org/drawingml/2006/table">
            <a:tbl>
              <a:tblPr/>
              <a:tblGrid>
                <a:gridCol w="53492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27,600 t/yr of formal recycling capacity already installed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75.4% average material recovery rate at authorized recyclers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555 informal workers identified — a ready workforce for formalization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•  102 registered collection centres already exist to build 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6200" marR="76200" marT="76200" marB="762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11" name="Text 7"/>
          <p:cNvSpPr/>
          <p:nvPr/>
        </p:nvSpPr>
        <p:spPr>
          <a:xfrm>
            <a:off x="685800" y="576072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Uttarakhand's e-waste problem isn't a lack of infrastructure — it's an uneven system where the plains process and the hills are left out.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2 of 6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VS. CAPTURE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State Tsunami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 e-waste system is scaling fast — but Uttarakhand still loses more than half its e-waste to informal or unrecorded channels.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521208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48463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India's formally collected &amp; processed e-waste rose 43× in eight years — from 22,700 t (FY16–17) to 9,88,479 t (FY24–25).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3063240"/>
          <a:ext cx="52120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035040" y="1737360"/>
            <a:ext cx="5623560" cy="1188720"/>
          </a:xfrm>
          <a:prstGeom prst="rect">
            <a:avLst/>
          </a:prstGeom>
          <a:solidFill>
            <a:srgbClr val="E7E3D6"/>
          </a:solidFill>
          <a:ln/>
        </p:spPr>
      </p:sp>
      <p:sp>
        <p:nvSpPr>
          <p:cNvPr id="9" name="Text 6"/>
          <p:cNvSpPr/>
          <p:nvPr/>
        </p:nvSpPr>
        <p:spPr>
          <a:xfrm>
            <a:off x="6217920" y="1828800"/>
            <a:ext cx="52578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Uttarakhand, 2025–26
</a:t>
            </a:r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33.7 lakh kg generated · only 43.4% formally collected · the remaining 56.6% is unaccounted for.</a:t>
            </a:r>
            <a:endParaRPr lang="en-US" sz="12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6309360" y="3063240"/>
          <a:ext cx="534924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3 of 6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GAP SITS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District Map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District boundaries reproduced from a supplied reference map — shading and figures below are our own, verified workbook numbers, not the map's original labels.</a:t>
            </a:r>
            <a:endParaRPr lang="en-US" sz="1250" dirty="0"/>
          </a:p>
        </p:txBody>
      </p:sp>
      <p:pic>
        <p:nvPicPr>
          <p:cNvPr id="5" name="Image 0" descr="/home/claude/map_ass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486400" cy="43708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610819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map: district boundaries only — legend and per-capita values on the original graphic are unverified and not used here.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6263640" y="1691640"/>
            <a:ext cx="5394960" cy="4370832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92240" y="18288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collection rate by district (from our workbook)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92240" y="219456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235440" y="219456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49.5%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492240" y="247802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Haridwar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235440" y="247802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45.8%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492240" y="276148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Udham Singh Nagar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9235440" y="276148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43.8%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492240" y="304495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Nainital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235440" y="304495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5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43.4%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332841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Almora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9235440" y="332841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38.7%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492240" y="361188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Pauri Garhwal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235440" y="361188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37.1%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492240" y="389534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Tehri Garhwal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9235440" y="389534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492240" y="417880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Chamoli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9235440" y="417880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32.2%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6492240" y="4462272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Pithoragarh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9235440" y="4462272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31.6%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92240" y="4745736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Uttarkashi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9235440" y="4745736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492240" y="5029200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Champawat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9235440" y="5029200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30.9%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5312664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Bageshwar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9235440" y="5312664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30.0%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492240" y="5596128"/>
            <a:ext cx="27432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Rudraprayag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235440" y="5596128"/>
            <a:ext cx="219456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54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28.9%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4 of 6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B5A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PLAINS VS. HILLS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Matrix: Collection Performance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Dehradun, Haridwar, Udham Singh Nagar &amp; Nainital vs. the remaining nine hill districts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783080"/>
          <a:ext cx="11155680" cy="4023360"/>
        </p:xfrm>
        <a:graphic>
          <a:graphicData uri="http://schemas.openxmlformats.org/drawingml/2006/table">
            <a:tbl>
              <a:tblPr/>
              <a:tblGrid>
                <a:gridCol w="5120640"/>
                <a:gridCol w="3017520"/>
                <a:gridCol w="3017520"/>
              </a:tblGrid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1E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Plains Districts (4)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A3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Hill Districts (9)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95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collection rate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46.4%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34.3%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Avg. per-capita generation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0.41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 kg/yr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collection centres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Districts with an authorized recycler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of 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of 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Installed recycling capacity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400 t/yr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2630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Share of state e-waste generated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C5A3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75.1%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B5495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24.9%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FC9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3D6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02920" y="5989320"/>
            <a:ext cx="11155680" cy="548640"/>
          </a:xfrm>
          <a:prstGeom prst="rect">
            <a:avLst/>
          </a:prstGeom>
          <a:solidFill>
            <a:srgbClr val="26302B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598932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hills generate a quarter of the state's e-waste but hold almost none of its formal capacity to handle it.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5 of 6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F7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to a District-Balanced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steps, grounded in what the data already shows is working and what isn't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508760" y="182880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37360" y="1920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Formalize &amp; Protect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37360" y="228600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the 555 identified informal workers into registration and training, starting with the 3 already-partially-formalized clusters (Patel Nagar, Kashipur, Jwalapur) before tackling the 4 still fully informal.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324612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246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508760" y="324612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737360" y="333756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Build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0332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 recycler capacity beyond the 5 hub districts. Prioritize the 8 hill districts with zero authorized recyclers, using Uttarkashi's single small unit as the proof of concept.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4663440"/>
            <a:ext cx="822960" cy="822960"/>
          </a:xfrm>
          <a:prstGeom prst="ellipse">
            <a:avLst/>
          </a:prstGeom>
          <a:solidFill>
            <a:srgbClr val="2C5A3E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46634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08760" y="4663440"/>
            <a:ext cx="101498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FC9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37360" y="475488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63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&amp; Innovate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96926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Raise Regulatory Compliance (9.0/15) and Collection Performance (8.7/20) — the two weakest of the 7 scorecard categories — by closing the plains-to-hills centre gap (67 vs. 35).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617220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5B65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Sustainable, district-balanced e-waste infrastructure is the cornerstone for turning Uttarakhand's hill-state paradox into a hill-state model.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65392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Uttarakhand E-Waste Study  ·  slide 6 of 6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943600" y="6565392"/>
            <a:ext cx="5760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FC9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Uttarakhand E-Waste Collection Log (illustrative district workbook, 2025–26) &amp; national CPCB/PIB e-waste data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AE6343E5-D748-46C2-89AC-3AB75B5D7E08}"/>
</file>

<file path=customXml/itemProps2.xml><?xml version="1.0" encoding="utf-8"?>
<ds:datastoreItem xmlns:ds="http://schemas.openxmlformats.org/officeDocument/2006/customXml" ds:itemID="{F1DE220E-D996-454F-9631-ED805659C979}"/>
</file>

<file path=customXml/itemProps3.xml><?xml version="1.0" encoding="utf-8"?>
<ds:datastoreItem xmlns:ds="http://schemas.openxmlformats.org/officeDocument/2006/customXml" ds:itemID="{41351B27-4417-4CB8-A875-D5EE0C00F92E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2026-08-10T08:56:11Z</dcterms:created>
  <dcterms:modified xsi:type="dcterms:W3CDTF">2026-08-10T08:56:11Z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